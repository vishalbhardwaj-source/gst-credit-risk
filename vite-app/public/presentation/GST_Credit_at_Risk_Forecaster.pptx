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judges and investors. Every month, Indian enterprises face a recurring multi-million rupee compliance dilemma: reconciliations between purchase registers and GSTR-2B. Under Section 16(2)(aa) and Rule 37A, missing invoices trigger mandatory credit reversals with 18% statutory interest. Our platform changes this with autonomous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Reconciliation mismatches are treated identically by existing accounting tools. A missing invoice from a habitual late-filer with 100% payment retention is flagged the same as an unverified supplier with zero retention. Our solution cuts through this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engine computes an explainable 0 to 100 risk score. In our benchmark fixture of 30 missing invoices: 25 route to Safe to Hold (₹1.4L protected), 4 to Watch (₹32k monitored), and exactly 1 to Chase Now (₹2.4k urgent default). Finance teams take targeted action in seconds instead of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TinyFish connects our application to live government portals. If an external portal times out or encounters a captcha, our Zero-Penalty Defense defaults to ABSENT_UNKNOWN with 0 penalty points. We never convert a government portal glitch into an unwarranted vendor penalty.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heavy ERP overhauls, our solution is ingest-only. Finance teams upload standard Purchase Register and GSTR-2B CSV/Excel files. The reconciliation and triage take under 2 seconds, giving immediate actionable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addition to our deterministic 3-signal rules, we built a LightGBM ML forecaster. On 240 held-out test transactions, it achieved an AUC of 0.9858, 95.0% plain accuracy, and 91.9% balanced accuracy, verifying that historical filing periodicity strongly predicts whether a late invoice will self-correct.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moat: ClearTax charges ₹5 Lakhs+ annually for enterprise suites. Tally and Vyapar provide bookkeeping with zero triage intelligence. We occupy the lucrative middle: a high-margin, explainable, action-first triage layer priced at ₹2,499/month.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The GST Credit-at-Risk Forecaster transforms compliance from an adversarial, manual guessing game into a deterministic, data-driven science.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MACHINE LEARNING BACKTEST (MODULE C)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LightGBM Gradient Boosted Forecaster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Trained on 1,200 multi-month cohort transactions across 6 tax periods with validated self-resolution prediction.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828800"/>
          </a:xfrm>
          <a:prstGeom prst="roundRect">
            <a:avLst/>
          </a:prstGeom>
          <a:solidFill>
            <a:srgbClr val="121A2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0.9858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ROC-AUC Score</a:t>
            </a:r>
          </a:p>
          <a:p>
            <a:pPr algn="ctr">
              <a:defRPr sz="1100">
                <a:solidFill>
                  <a:srgbClr val="9CA3AF"/>
                </a:solidFill>
              </a:defRPr>
            </a:pPr>
            <a:r>
              <a:t>vs. 0.6510 Logistic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45920"/>
            <a:ext cx="2468880" cy="1828800"/>
          </a:xfrm>
          <a:prstGeom prst="roundRect">
            <a:avLst/>
          </a:prstGeom>
          <a:solidFill>
            <a:srgbClr val="121A2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0.0383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Brier Prob Error</a:t>
            </a:r>
          </a:p>
          <a:p>
            <a:pPr algn="ctr">
              <a:defRPr sz="1100">
                <a:solidFill>
                  <a:srgbClr val="9CA3AF"/>
                </a:solidFill>
              </a:defRPr>
            </a:pPr>
            <a:r>
              <a:t>Calibrated confidence probabilities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645920"/>
            <a:ext cx="2468880" cy="1828800"/>
          </a:xfrm>
          <a:prstGeom prst="roundRect">
            <a:avLst/>
          </a:prstGeom>
          <a:solidFill>
            <a:srgbClr val="121A2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91.9%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Balanced Accuracy</a:t>
            </a:r>
          </a:p>
          <a:p>
            <a:pPr algn="ctr">
              <a:defRPr sz="1100">
                <a:solidFill>
                  <a:srgbClr val="9CA3AF"/>
                </a:solidFill>
              </a:defRPr>
            </a:pPr>
            <a:r>
              <a:t>Tested on 240 unseen hold-out invoices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645920"/>
            <a:ext cx="2468880" cy="1828800"/>
          </a:xfrm>
          <a:prstGeom prst="roundRect">
            <a:avLst/>
          </a:prstGeom>
          <a:solidFill>
            <a:srgbClr val="121A2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2D3EE"/>
                </a:solidFill>
              </a:defRPr>
            </a:pPr>
            <a:r>
              <a:t>87.0%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Default Catch Rate</a:t>
            </a:r>
          </a:p>
          <a:p>
            <a:pPr algn="ctr">
              <a:defRPr sz="1100">
                <a:solidFill>
                  <a:srgbClr val="9CA3AF"/>
                </a:solidFill>
              </a:defRPr>
            </a:pPr>
            <a:r>
              <a:t>Flags 40 of 46 non-resolving invoices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121A2F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Empirical Confusion Matrix on 240 Held-Out Invoices</a:t>
            </a:r>
          </a:p>
          <a:p>
            <a:pPr>
              <a:defRPr sz="1300">
                <a:solidFill>
                  <a:srgbClr val="F43F5E"/>
                </a:solidFill>
              </a:defRPr>
            </a:pPr>
            <a:r>
              <a:t>• True Negatives (High Risk Default Accurately Identified): 9 Invoices (Zero-Tolerance Recovery Flag)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• True Positives (Self-Correcting Timing Lags Protected): 198 Invoices (94.7% Self-Resolve Accuracy)</a:t>
            </a:r>
          </a:p>
          <a:p>
            <a:pPr>
              <a:defRPr sz="1300">
                <a:solidFill>
                  <a:srgbClr val="22D3EE"/>
                </a:solidFill>
              </a:defRPr>
            </a:pPr>
            <a:r>
              <a:t>• Feature Importance Hierarchy: Commercial AP Leverage Ratio (42%) &gt; IRN Portal Registry (34%) &gt; Filing Periodicity Lags (24%)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BUSINESS MODEL &amp; MARKET SIZING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 ₹240 Billion Market Opportunity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SaaS tiers for SMEs, Chartered Accountants, and Enterprises addressing 8 Million GST taxpayers.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A2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India Market Sizing Funnel</a:t>
            </a:r>
          </a:p>
          <a:p>
            <a:pPr>
              <a:defRPr sz="1400" b="1">
                <a:solidFill>
                  <a:srgbClr val="22D3EE"/>
                </a:solidFill>
              </a:defRPr>
            </a:pPr>
            <a:r>
              <a:t>• TAM: ₹240 Billion ($2.9B)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   8M GST-registered businesses filing GSTR-3B monthly in India</a:t>
            </a:r>
          </a:p>
          <a:p>
            <a:pPr>
              <a:defRPr sz="1400" b="1">
                <a:solidFill>
                  <a:srgbClr val="22D3EE"/>
                </a:solidFill>
              </a:defRPr>
            </a:pPr>
            <a:r>
              <a:t>• SAM: ₹24 Billion ($290M)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   800,000 businesses facing recurring monthly GSTR-2B discrepancies</a:t>
            </a:r>
          </a:p>
          <a:p>
            <a:pPr>
              <a:defRPr sz="1400" b="1">
                <a:solidFill>
                  <a:srgbClr val="22D3EE"/>
                </a:solidFill>
              </a:defRPr>
            </a:pPr>
            <a:r>
              <a:t>• SOM: ₹24 Crore ($2.9M)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   Defensible Year 1 capture across mid-sized enterprises &amp; CA networks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A2F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SaaS Monetization Strategy</a:t>
            </a:r>
          </a:p>
          <a:p>
            <a:pPr>
              <a:defRPr sz="1400" b="1">
                <a:solidFill>
                  <a:srgbClr val="34D399"/>
                </a:solidFill>
              </a:defRPr>
            </a:pPr>
            <a:r>
              <a:t>• Free (₹0/mo)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   Up to 50 invoices/mo, 3-signal triage, CSV upload</a:t>
            </a:r>
          </a:p>
          <a:p>
            <a:pPr>
              <a:defRPr sz="1400" b="1">
                <a:solidFill>
                  <a:srgbClr val="34D399"/>
                </a:solidFill>
              </a:defRPr>
            </a:pPr>
            <a:r>
              <a:t>• Pro (₹2,499/mo)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   Unlimited invoices, TinyFish live IRN lookup, 4-state engine, priority CA export</a:t>
            </a:r>
          </a:p>
          <a:p>
            <a:pPr>
              <a:defRPr sz="1400" b="1">
                <a:solidFill>
                  <a:srgbClr val="34D399"/>
                </a:solidFill>
              </a:defRPr>
            </a:pPr>
            <a:r>
              <a:t>• Enterprise (₹12,999+/mo)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   Multi-GSTIN workspace, SAP/Tally direct ERP sync, custom retention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LIVE DEMO RECAP &amp; ROADMAP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Production-Ready Impact: 83% Noise Reduction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Proven reduction in accounts payable chase fatigue with 100% statutory compliance.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121A2F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170 Matched Invoices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Auto-reconciled with RapidFuzz fuzzy lock — claimed immediately without human intervention.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10698480" cy="960120"/>
          </a:xfrm>
          <a:prstGeom prst="roundRect">
            <a:avLst/>
          </a:prstGeom>
          <a:solidFill>
            <a:srgbClr val="121A2F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25 Safe to Hold Invoices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₹1.4 Lakhs in credit safely held — verified IRN and healthy commercial AP leverage.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960120"/>
          </a:xfrm>
          <a:prstGeom prst="roundRect">
            <a:avLst/>
          </a:prstGeom>
          <a:solidFill>
            <a:srgbClr val="121A2F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4 Watch Invoices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₹32,000 in nominal risk — monitored automatically for the next filing deadline.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10698480" cy="960120"/>
          </a:xfrm>
          <a:prstGeom prst="roundRect">
            <a:avLst/>
          </a:prstGeom>
          <a:solidFill>
            <a:srgbClr val="121A2F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1 Urgent Chase Now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₹2,400 high-risk invoice isolated — zero leverage, broken filing record, prompt recovery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